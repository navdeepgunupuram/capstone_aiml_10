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72" r:id="rId3"/>
    <p:sldId id="354" r:id="rId4"/>
    <p:sldId id="350" r:id="rId5"/>
    <p:sldId id="427" r:id="rId6"/>
    <p:sldId id="429" r:id="rId7"/>
    <p:sldId id="424" r:id="rId8"/>
    <p:sldId id="425" r:id="rId9"/>
    <p:sldId id="431" r:id="rId10"/>
    <p:sldId id="281" r:id="rId11"/>
    <p:sldId id="423" r:id="rId12"/>
    <p:sldId id="415" r:id="rId13"/>
    <p:sldId id="285" r:id="rId14"/>
    <p:sldId id="307" r:id="rId15"/>
    <p:sldId id="426" r:id="rId16"/>
    <p:sldId id="309" r:id="rId17"/>
    <p:sldId id="43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9" autoAdjust="0"/>
    <p:restoredTop sz="94624" autoAdjust="0"/>
  </p:normalViewPr>
  <p:slideViewPr>
    <p:cSldViewPr showGuides="1">
      <p:cViewPr>
        <p:scale>
          <a:sx n="76" d="100"/>
          <a:sy n="76" d="100"/>
        </p:scale>
        <p:origin x="1161" y="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76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CSE-2, K 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6F397-6F73-4A7C-9714-C16E0C19D3F4}" type="datetimeFigureOut">
              <a:rPr lang="en-US" smtClean="0"/>
              <a:t>8/26/2026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Department of CSE-2, K 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61C2A-479F-4A6C-A880-427EBD493D7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IN" altLang="en-US" dirty="0"/>
          </a:p>
        </p:txBody>
      </p:sp>
      <p:sp>
        <p:nvSpPr>
          <p:cNvPr id="9011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374188"/>
            <a:ext cx="2919413" cy="493712"/>
          </a:xfrm>
          <a:noFill/>
          <a:ln>
            <a:miter lim="800000"/>
          </a:ln>
        </p:spPr>
        <p:txBody>
          <a:bodyPr wrap="square" numCol="1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CSE-2, K L University</a:t>
            </a: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210B4-9D94-4AE8-33DE-C3AB88AC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EF3F4-1B98-4F55-42F6-8557B0F95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801FF-13AC-ADBC-F45F-DE318FF9D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4D926-9505-39FC-793D-3E4AB157E3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  <p:extLst>
      <p:ext uri="{BB962C8B-B14F-4D97-AF65-F5344CB8AC3E}">
        <p14:creationId xmlns:p14="http://schemas.microsoft.com/office/powerpoint/2010/main" val="2565300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Department of CSE-2, K L University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F05A-9D5E-4613-8AE4-05E9B8DF3501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CE6B9-C779-4DA8-ACF9-426FC5FE699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83DD-4948-410D-9525-04C0F9F6277E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9D90-7078-448A-8746-1D3DB8C5C64A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7A65E-4B3E-4D8F-90B5-0E7B3DCD36BA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DE4A-B1D1-46D9-A248-462CF1A7B47C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4AB3-462B-457C-B3E6-665682655E91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19DD-14DC-4C78-BFB8-D81720F3200F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1859-F12E-4E30-ABF5-7A7364F38D74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33327-0CA1-4944-9743-1D7B426F196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46EF1-70C2-45D8-BCC1-C95F6557E738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F05A-9D5E-4613-8AE4-05E9B8DF3501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CE6B9-C779-4DA8-ACF9-426FC5FE699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83DD-4948-410D-9525-04C0F9F6277E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9D90-7078-448A-8746-1D3DB8C5C64A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7A65E-4B3E-4D8F-90B5-0E7B3DCD36BA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DE4A-B1D1-46D9-A248-462CF1A7B47C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4AB3-462B-457C-B3E6-665682655E91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19DD-14DC-4C78-BFB8-D81720F3200F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1859-F12E-4E30-ABF5-7A7364F38D74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33327-0CA1-4944-9743-1D7B426F196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46EF1-70C2-45D8-BCC1-C95F6557E738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30EE1-8938-4D12-A5F3-4573FF4958CD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30EE1-8938-4D12-A5F3-4573FF4958CD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CSE-2, K 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 bwMode="blackGray">
          <a:xfrm>
            <a:off x="0" y="-40974"/>
            <a:ext cx="9144000" cy="2169828"/>
          </a:xfr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anchor="ctr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Aptos"/>
              </a:rPr>
              <a:t>Multilingual Admission-Assistance Chatbot for Technical Education</a:t>
            </a:r>
            <a:endParaRPr lang="en-US" alt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2555776" y="4509120"/>
            <a:ext cx="4229100" cy="381000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25000"/>
              <a:defRPr/>
            </a:pPr>
            <a:endParaRPr lang="en-US" sz="2400" b="1" kern="0" dirty="0">
              <a:solidFill>
                <a:srgbClr val="002060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>
              <a:buSzPct val="25000"/>
              <a:defRPr/>
            </a:pPr>
            <a:r>
              <a:rPr lang="en-US" sz="2400" b="1" kern="0" dirty="0">
                <a:solidFill>
                  <a:srgbClr val="002060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Under the Guidance of</a:t>
            </a:r>
          </a:p>
          <a:p>
            <a:pPr>
              <a:buSzPct val="25000"/>
              <a:buFont typeface="Arial" panose="020B0604020202020204" pitchFamily="34" charset="0"/>
              <a:buNone/>
              <a:defRPr/>
            </a:pPr>
            <a:endParaRPr lang="en-US" sz="2400" b="1" kern="0" dirty="0">
              <a:solidFill>
                <a:srgbClr val="002060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>
              <a:buSzPct val="25000"/>
              <a:buFont typeface="Arial" panose="020B0604020202020204" pitchFamily="34" charset="0"/>
              <a:buNone/>
              <a:defRPr/>
            </a:pPr>
            <a:endParaRPr lang="en-US" b="1" kern="0" dirty="0">
              <a:solidFill>
                <a:srgbClr val="002060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sz="4000" dirty="0">
              <a:solidFill>
                <a:srgbClr val="002060"/>
              </a:solidFill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1115616" y="4653136"/>
            <a:ext cx="7021760" cy="2331477"/>
          </a:xfrm>
          <a:prstGeom prst="rect">
            <a:avLst/>
          </a:prstGeom>
        </p:spPr>
        <p:txBody>
          <a:bodyPr wrap="square" anchor="ctr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1" dirty="0">
                <a:solidFill>
                  <a:srgbClr val="232D3C"/>
                </a:solidFill>
                <a:latin typeface="Aptos"/>
              </a:rPr>
              <a:t>Dr. T.SAILAJA</a:t>
            </a:r>
            <a:r>
              <a:rPr sz="1700" b="0" dirty="0">
                <a:solidFill>
                  <a:srgbClr val="232D3C"/>
                </a:solidFill>
                <a:latin typeface="Aptos"/>
              </a:rPr>
              <a:t>
Department of CSE-2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 bwMode="blackGray">
          <a:xfrm>
            <a:off x="2123728" y="2132856"/>
            <a:ext cx="5040560" cy="2232248"/>
          </a:xfrm>
        </p:spPr>
        <p:txBody>
          <a:bodyPr wrap="square" anchor="ctr">
            <a:normAutofit/>
          </a:bodyPr>
          <a:lstStyle/>
          <a:p>
            <a:pPr>
              <a:lnSpc>
                <a:spcPct val="100000"/>
              </a:lnSpc>
              <a:buSzPct val="25000"/>
              <a:defRPr/>
            </a:pPr>
            <a:r>
              <a:rPr sz="1500" b="1" dirty="0">
                <a:solidFill>
                  <a:srgbClr val="082B66"/>
                </a:solidFill>
                <a:latin typeface="Aptos"/>
              </a:rPr>
              <a:t>Presented by
1. </a:t>
            </a:r>
            <a:r>
              <a:rPr lang="en-IN" sz="1500" b="1" dirty="0">
                <a:solidFill>
                  <a:srgbClr val="082B66"/>
                </a:solidFill>
                <a:latin typeface="Aptos"/>
              </a:rPr>
              <a:t>CHEBROLU  CHAITHANYA  KUMAR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, </a:t>
            </a:r>
            <a:r>
              <a:rPr lang="en-IN" sz="1500" b="1" dirty="0">
                <a:solidFill>
                  <a:srgbClr val="082B66"/>
                </a:solidFill>
                <a:latin typeface="Aptos"/>
              </a:rPr>
              <a:t>2300033094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, CSE
2. </a:t>
            </a:r>
            <a:r>
              <a:rPr lang="en-IN" sz="1500" b="1" dirty="0">
                <a:solidFill>
                  <a:srgbClr val="082B66"/>
                </a:solidFill>
                <a:latin typeface="Aptos"/>
              </a:rPr>
              <a:t>GUNUPURAM  NAVDEEP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,</a:t>
            </a:r>
            <a:r>
              <a:rPr lang="en-US" sz="1500" b="1" dirty="0">
                <a:solidFill>
                  <a:srgbClr val="082B66"/>
                </a:solidFill>
                <a:latin typeface="Aptos"/>
              </a:rPr>
              <a:t>2300030243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, CS</a:t>
            </a:r>
            <a:r>
              <a:rPr lang="en-US" sz="1500" b="1" dirty="0">
                <a:solidFill>
                  <a:srgbClr val="082B66"/>
                </a:solidFill>
                <a:latin typeface="Aptos"/>
              </a:rPr>
              <a:t>E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
3. </a:t>
            </a:r>
            <a:r>
              <a:rPr lang="en-IN" sz="1500" b="1" dirty="0">
                <a:solidFill>
                  <a:srgbClr val="082B66"/>
                </a:solidFill>
                <a:latin typeface="Aptos"/>
              </a:rPr>
              <a:t>KADTHALA SIDDHARTHA REDDY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, </a:t>
            </a:r>
            <a:r>
              <a:rPr lang="en-US" sz="1500" b="1" dirty="0">
                <a:solidFill>
                  <a:srgbClr val="082B66"/>
                </a:solidFill>
                <a:latin typeface="Aptos"/>
              </a:rPr>
              <a:t> </a:t>
            </a:r>
            <a:r>
              <a:rPr lang="en-IN" sz="1500" b="1" dirty="0">
                <a:solidFill>
                  <a:srgbClr val="082B66"/>
                </a:solidFill>
                <a:latin typeface="Aptos"/>
              </a:rPr>
              <a:t>2300031373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, CSE
4. </a:t>
            </a:r>
            <a:r>
              <a:rPr lang="en-IN" sz="1500" b="1" dirty="0">
                <a:solidFill>
                  <a:srgbClr val="082B66"/>
                </a:solidFill>
                <a:latin typeface="Aptos"/>
              </a:rPr>
              <a:t>Bala  Sudarshan Ravi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, </a:t>
            </a:r>
            <a:r>
              <a:rPr lang="en-IN" sz="1500" b="1" dirty="0">
                <a:solidFill>
                  <a:srgbClr val="082B66"/>
                </a:solidFill>
                <a:latin typeface="Aptos"/>
              </a:rPr>
              <a:t>2300039155</a:t>
            </a:r>
            <a:r>
              <a:rPr sz="1500" b="1" dirty="0">
                <a:solidFill>
                  <a:srgbClr val="082B66"/>
                </a:solidFill>
                <a:latin typeface="Aptos"/>
              </a:rPr>
              <a:t>, CSE</a:t>
            </a:r>
            <a:endParaRPr lang="en-US" sz="2400" b="1" kern="0" dirty="0">
              <a:solidFill>
                <a:srgbClr val="00206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3995936" y="3933056"/>
            <a:ext cx="1325880" cy="1161415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F05A-9D5E-4613-8AE4-05E9B8DF3501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-180528" y="6356350"/>
            <a:ext cx="9577064" cy="365125"/>
          </a:xfrm>
        </p:spPr>
        <p:txBody>
          <a:bodyPr/>
          <a:lstStyle/>
          <a:p>
            <a:r>
              <a:rPr lang="en-US" dirty="0"/>
              <a:t>Dept of CSE-2, K 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82B66"/>
                </a:solidFill>
                <a:latin typeface="Aptos"/>
              </a:rPr>
              <a:t>Introduction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73DD21-2B40-2AD1-B4F0-AF73BC9F8F5E}"/>
              </a:ext>
            </a:extLst>
          </p:cNvPr>
          <p:cNvGrpSpPr/>
          <p:nvPr/>
        </p:nvGrpSpPr>
        <p:grpSpPr>
          <a:xfrm>
            <a:off x="2411760" y="2924944"/>
            <a:ext cx="4663440" cy="1221864"/>
            <a:chOff x="2051720" y="3246120"/>
            <a:chExt cx="4663440" cy="1221864"/>
          </a:xfrm>
        </p:grpSpPr>
        <p:sp>
          <p:nvSpPr>
            <p:cNvPr id="10" name="Rectangle 9"/>
            <p:cNvSpPr/>
            <p:nvPr/>
          </p:nvSpPr>
          <p:spPr>
            <a:xfrm>
              <a:off x="2834640" y="3246120"/>
              <a:ext cx="2743200" cy="54864"/>
            </a:xfrm>
            <a:prstGeom prst="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51720" y="3645024"/>
              <a:ext cx="4663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700" b="0" dirty="0">
                  <a:solidFill>
                    <a:srgbClr val="6E7682"/>
                  </a:solidFill>
                  <a:latin typeface="Aptos"/>
                </a:rPr>
                <a:t>Context, need and scope of the proposed system.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3CEA85-E073-1C1A-F48E-A561FD53444D}"/>
              </a:ext>
            </a:extLst>
          </p:cNvPr>
          <p:cNvGrpSpPr/>
          <p:nvPr/>
        </p:nvGrpSpPr>
        <p:grpSpPr>
          <a:xfrm>
            <a:off x="539552" y="1268760"/>
            <a:ext cx="8280920" cy="4799040"/>
            <a:chOff x="502920" y="914400"/>
            <a:chExt cx="7223760" cy="3956619"/>
          </a:xfrm>
        </p:grpSpPr>
        <p:sp>
          <p:nvSpPr>
            <p:cNvPr id="10" name="TextBox 9"/>
            <p:cNvSpPr txBox="1"/>
            <p:nvPr/>
          </p:nvSpPr>
          <p:spPr>
            <a:xfrm>
              <a:off x="502920" y="914400"/>
              <a:ext cx="7223760" cy="58362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IN" sz="2000" b="1" dirty="0">
                  <a:solidFill>
                    <a:schemeClr val="tx2"/>
                  </a:solidFill>
                </a:rPr>
                <a:t>A multilingual AI-powered assistant that simplifies technical-education admissions and provides personalized student support.</a:t>
              </a:r>
              <a:endParaRPr sz="2000" b="1" dirty="0">
                <a:solidFill>
                  <a:schemeClr val="tx2"/>
                </a:solidFill>
                <a:latin typeface="Aptos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1737360"/>
              <a:ext cx="2148840" cy="1965960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600" b="1" dirty="0">
                  <a:solidFill>
                    <a:schemeClr val="tx2"/>
                  </a:solidFill>
                  <a:latin typeface="Aptos"/>
                </a:rPr>
                <a:t>01</a:t>
              </a:r>
              <a:r>
                <a:rPr lang="en-IN" sz="1600" b="1" dirty="0">
                  <a:solidFill>
                    <a:schemeClr val="tx2"/>
                  </a:solidFill>
                </a:rPr>
                <a:t> — Multilingual Assistance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Students can interact with the chatbot in a language they are comfortable with, reducing language barriers and improving accessibility.</a:t>
              </a:r>
              <a:endParaRPr sz="1400" b="0" dirty="0">
                <a:solidFill>
                  <a:schemeClr val="tx1"/>
                </a:solidFill>
                <a:latin typeface="Aptos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788920" y="1737360"/>
              <a:ext cx="2245267" cy="1965960"/>
            </a:xfrm>
            <a:prstGeom prst="roundRect">
              <a:avLst/>
            </a:prstGeom>
            <a:solidFill>
              <a:srgbClr val="F5F8FC"/>
            </a:solidFill>
            <a:ln w="16510">
              <a:solidFill>
                <a:srgbClr val="9B23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lang="en-IN" sz="1600" b="1" dirty="0">
                  <a:solidFill>
                    <a:schemeClr val="tx2"/>
                  </a:solidFill>
                </a:rPr>
                <a:t>02 — Reliable Information with RAG</a:t>
              </a:r>
            </a:p>
            <a:p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Retrieval-Augmented Generation (RAG) retrieves relevant information from trusted institutional and educational documents before generating responses.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074920" y="1737360"/>
              <a:ext cx="2148840" cy="1965960"/>
            </a:xfrm>
            <a:prstGeom prst="roundRect">
              <a:avLst/>
            </a:prstGeom>
            <a:solidFill>
              <a:srgbClr val="F7FAF6"/>
            </a:solidFill>
            <a:ln w="16510">
              <a:solidFill>
                <a:srgbClr val="377D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lang="en-IN" sz="1600" b="1" dirty="0">
                  <a:solidFill>
                    <a:schemeClr val="tx2"/>
                  </a:solidFill>
                </a:rPr>
                <a:t>03 — Personalized Student Support</a:t>
              </a:r>
            </a:p>
            <a:p>
              <a:r>
                <a: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 student profile uses learning progress, assessment results, topics studied, and areas of difficulty to provide personalized resources and guidance.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4360" y="4160520"/>
              <a:ext cx="7040880" cy="7104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IN" b="1" u="sng" dirty="0">
                  <a:solidFill>
                    <a:schemeClr val="tx2"/>
                  </a:solidFill>
                </a:rPr>
                <a:t>Scope: </a:t>
              </a:r>
            </a:p>
            <a:p>
              <a:r>
                <a:rPr lang="en-IN" sz="1600" dirty="0"/>
                <a:t>Admissions &amp; eligibility • Course guidance • Academic queries • Learning resources   • Assessments • Progress tracking</a:t>
              </a:r>
              <a:endParaRPr sz="1700" b="0" dirty="0">
                <a:solidFill>
                  <a:srgbClr val="232D3C"/>
                </a:solidFill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82B66"/>
                </a:solidFill>
                <a:latin typeface="Aptos"/>
              </a:rPr>
              <a:t>Motivation / Existing System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5AE13A-6B66-5043-76C0-054054EE4623}"/>
              </a:ext>
            </a:extLst>
          </p:cNvPr>
          <p:cNvGrpSpPr/>
          <p:nvPr/>
        </p:nvGrpSpPr>
        <p:grpSpPr>
          <a:xfrm>
            <a:off x="2123728" y="3068960"/>
            <a:ext cx="4663440" cy="1234440"/>
            <a:chOff x="1828800" y="3246120"/>
            <a:chExt cx="4663440" cy="1234440"/>
          </a:xfrm>
        </p:grpSpPr>
        <p:sp>
          <p:nvSpPr>
            <p:cNvPr id="10" name="Rectangle 9"/>
            <p:cNvSpPr/>
            <p:nvPr/>
          </p:nvSpPr>
          <p:spPr>
            <a:xfrm>
              <a:off x="2834640" y="3246120"/>
              <a:ext cx="2743200" cy="54864"/>
            </a:xfrm>
            <a:prstGeom prst="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28800" y="3657600"/>
              <a:ext cx="4663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700" b="0">
                  <a:solidFill>
                    <a:srgbClr val="6E7682"/>
                  </a:solidFill>
                  <a:latin typeface="Aptos"/>
                </a:rPr>
                <a:t>Why current educational support systems are not enough.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Motivation / Existing System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A38AC5-FE9F-D9E2-A6F5-08D05FFA020F}"/>
              </a:ext>
            </a:extLst>
          </p:cNvPr>
          <p:cNvGrpSpPr/>
          <p:nvPr/>
        </p:nvGrpSpPr>
        <p:grpSpPr>
          <a:xfrm>
            <a:off x="179512" y="980728"/>
            <a:ext cx="8712968" cy="5184576"/>
            <a:chOff x="179512" y="980728"/>
            <a:chExt cx="8496944" cy="5087557"/>
          </a:xfrm>
        </p:grpSpPr>
        <p:sp>
          <p:nvSpPr>
            <p:cNvPr id="10" name="Rounded Rectangle 9"/>
            <p:cNvSpPr/>
            <p:nvPr/>
          </p:nvSpPr>
          <p:spPr>
            <a:xfrm>
              <a:off x="179512" y="980728"/>
              <a:ext cx="3888432" cy="5040560"/>
            </a:xfrm>
            <a:prstGeom prst="roundRect">
              <a:avLst/>
            </a:prstGeom>
            <a:solidFill>
              <a:srgbClr val="F2F4F7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pPr algn="ctr"/>
              <a:endParaRPr sz="1900" b="1" dirty="0">
                <a:solidFill>
                  <a:srgbClr val="082B66"/>
                </a:solidFill>
                <a:latin typeface="Apto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2060848"/>
              <a:ext cx="3174120" cy="3349635"/>
            </a:xfrm>
            <a:prstGeom prst="rect">
              <a:avLst/>
            </a:prstGeom>
            <a:noFill/>
          </p:spPr>
          <p:txBody>
            <a:bodyPr wrap="square" lIns="63500" rIns="63500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Generic search and FAQ pages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Rule-based or fixed-path chatbots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Separate learning platforms and dashboards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Limited use of student history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English-first interaction in many systems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Little connection between answers and learning progress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139952" y="3212976"/>
              <a:ext cx="594360" cy="502920"/>
            </a:xfrm>
            <a:prstGeom prst="rightArrow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788024" y="980728"/>
              <a:ext cx="3888432" cy="5040560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082B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pPr algn="ctr"/>
              <a:endParaRPr sz="1900" b="1" dirty="0">
                <a:solidFill>
                  <a:srgbClr val="082B66"/>
                </a:solidFill>
                <a:latin typeface="Apto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76056" y="1988840"/>
              <a:ext cx="3600400" cy="3088025"/>
            </a:xfrm>
            <a:prstGeom prst="rect">
              <a:avLst/>
            </a:prstGeom>
            <a:noFill/>
          </p:spPr>
          <p:txBody>
            <a:bodyPr wrap="square" lIns="63500" rIns="63500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One conversational entry point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Ground responses in trusted documents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Maintain a student learning profile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Identify weak areas from assessments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Recommend suitable resources</a:t>
              </a:r>
            </a:p>
            <a:p>
              <a:pPr>
                <a:spcAft>
                  <a:spcPts val="1000"/>
                </a:spcAft>
              </a:pPr>
              <a:r>
                <a:rPr sz="1700" b="0" dirty="0">
                  <a:solidFill>
                    <a:srgbClr val="232D3C"/>
                  </a:solidFill>
                  <a:latin typeface="Aptos"/>
                </a:rPr>
                <a:t>• Close the loop with progress tracking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D0DC70A-0641-897D-C9EA-0EB986E06DE9}"/>
                </a:ext>
              </a:extLst>
            </p:cNvPr>
            <p:cNvSpPr txBox="1"/>
            <p:nvPr/>
          </p:nvSpPr>
          <p:spPr>
            <a:xfrm>
              <a:off x="539552" y="1196752"/>
              <a:ext cx="2880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82B66"/>
                  </a:solidFill>
                  <a:latin typeface="Aptos"/>
                </a:rPr>
                <a:t>Limitations of Existing Approaches</a:t>
              </a:r>
              <a:endParaRPr lang="en-IN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3EAEBB-FEDC-AF62-DEEE-DECEAE75E8CD}"/>
                </a:ext>
              </a:extLst>
            </p:cNvPr>
            <p:cNvSpPr txBox="1"/>
            <p:nvPr/>
          </p:nvSpPr>
          <p:spPr>
            <a:xfrm>
              <a:off x="5076056" y="1268760"/>
              <a:ext cx="273630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082B66"/>
                  </a:solidFill>
                  <a:latin typeface="Aptos"/>
                </a:rPr>
                <a:t>Motivation for Proposed System</a:t>
              </a:r>
            </a:p>
            <a:p>
              <a:endParaRPr lang="en-IN" dirty="0"/>
            </a:p>
          </p:txBody>
        </p:sp>
        <p:sp>
          <p:nvSpPr>
            <p:cNvPr id="6" name="Rounded Rectangle 3">
              <a:extLst>
                <a:ext uri="{FF2B5EF4-FFF2-40B4-BE49-F238E27FC236}">
                  <a16:creationId xmlns:a16="http://schemas.microsoft.com/office/drawing/2014/main" id="{FA8DF24D-B0E8-5C8E-F442-35D600EA04C2}"/>
                </a:ext>
              </a:extLst>
            </p:cNvPr>
            <p:cNvSpPr/>
            <p:nvPr/>
          </p:nvSpPr>
          <p:spPr>
            <a:xfrm>
              <a:off x="179512" y="980728"/>
              <a:ext cx="3888432" cy="5087557"/>
            </a:xfrm>
            <a:prstGeom prst="roundRect">
              <a:avLst/>
            </a:prstGeom>
            <a:solidFill>
              <a:srgbClr val="EFF4FC"/>
            </a:solidFill>
            <a:ln w="19050">
              <a:solidFill>
                <a:srgbClr val="4A87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9456" tIns="192024" rIns="171450" bIns="102870" rtlCol="0" anchor="t"/>
            <a:lstStyle/>
            <a:p>
              <a:pPr>
                <a:spcAft>
                  <a:spcPts val="1200"/>
                </a:spcAft>
                <a:defRPr sz="2000" b="1">
                  <a:solidFill>
                    <a:srgbClr val="143770"/>
                  </a:solidFill>
                  <a:latin typeface="Arial"/>
                </a:defRPr>
              </a:pPr>
              <a:r>
                <a:rPr u="sng" dirty="0"/>
                <a:t>Limitations of Existing Approaches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200" dirty="0"/>
                <a:t>Information scattered across multiple sources</a:t>
              </a:r>
              <a:br>
                <a:rPr sz="1200" dirty="0"/>
              </a:br>
              <a:r>
                <a:rPr sz="1200" dirty="0"/>
                <a:t>Admission, eligibility, courses and academic information are often distributed across different documents and platforms.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200" dirty="0"/>
                <a:t>Generic FAQ / search-based assistance</a:t>
              </a:r>
              <a:br>
                <a:rPr sz="1200" dirty="0"/>
              </a:br>
              <a:r>
                <a:rPr sz="1200" dirty="0"/>
                <a:t>Students must manually search through large amounts of institutional information to find relevant answers.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200" dirty="0"/>
                <a:t>Limited multilingual conversational support</a:t>
              </a:r>
              <a:br>
                <a:rPr sz="1200" dirty="0"/>
              </a:br>
              <a:r>
                <a:rPr sz="1200" dirty="0"/>
                <a:t>Many systems provide limited assistance in the student's preferred language.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200" dirty="0"/>
                <a:t>Limited personalization</a:t>
              </a:r>
              <a:br>
                <a:rPr sz="1200" dirty="0"/>
              </a:br>
              <a:r>
                <a:rPr sz="1200" dirty="0"/>
                <a:t>Generic systems do not sufficiently consider individual learning progress, assessment performance and areas of difficulty.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200" dirty="0"/>
                <a:t>Disconnected learning support</a:t>
              </a:r>
              <a:br>
                <a:rPr sz="1200" dirty="0"/>
              </a:br>
              <a:r>
                <a:rPr sz="1200" dirty="0"/>
                <a:t>Admission guidance, assessments and learning resources are often handled separately.</a:t>
              </a:r>
            </a:p>
          </p:txBody>
        </p:sp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CB66FF56-3082-AF3A-88ED-D5241CE596C5}"/>
                </a:ext>
              </a:extLst>
            </p:cNvPr>
            <p:cNvSpPr/>
            <p:nvPr/>
          </p:nvSpPr>
          <p:spPr>
            <a:xfrm>
              <a:off x="4788024" y="980728"/>
              <a:ext cx="3888432" cy="5040560"/>
            </a:xfrm>
            <a:prstGeom prst="roundRect">
              <a:avLst/>
            </a:prstGeom>
            <a:solidFill>
              <a:srgbClr val="EFF4FC"/>
            </a:solidFill>
            <a:ln w="19050">
              <a:solidFill>
                <a:srgbClr val="1437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9456" tIns="192024" rIns="171450" bIns="102870" rtlCol="0" anchor="t"/>
            <a:lstStyle/>
            <a:p>
              <a:pPr>
                <a:spcAft>
                  <a:spcPts val="1200"/>
                </a:spcAft>
                <a:defRPr sz="2000" b="1">
                  <a:solidFill>
                    <a:srgbClr val="143770"/>
                  </a:solidFill>
                  <a:latin typeface="Arial"/>
                </a:defRPr>
              </a:pPr>
              <a:r>
                <a:rPr u="sng" dirty="0"/>
                <a:t>Motivation for Proposed System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125" dirty="0"/>
                <a:t>Single conversational entry point</a:t>
              </a:r>
              <a:br>
                <a:rPr sz="1125" dirty="0"/>
              </a:br>
              <a:r>
                <a:rPr sz="1125" dirty="0"/>
                <a:t>One AI assistant for admission, academic and learning-related queries.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125" dirty="0"/>
                <a:t>RAG-based responses</a:t>
              </a:r>
              <a:br>
                <a:rPr sz="1125" dirty="0"/>
              </a:br>
              <a:r>
                <a:rPr sz="1125" dirty="0"/>
                <a:t>Ground answers in trusted institutional and educational documents.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125" dirty="0"/>
                <a:t>Multilingual interaction</a:t>
              </a:r>
              <a:br>
                <a:rPr sz="1125" dirty="0"/>
              </a:br>
              <a:r>
                <a:rPr sz="1125" dirty="0"/>
                <a:t>Support students in a language they are comfortable with.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125" dirty="0"/>
                <a:t>Personalized student profile</a:t>
              </a:r>
              <a:br>
                <a:rPr sz="1125" dirty="0"/>
              </a:br>
              <a:r>
                <a:rPr sz="1125" dirty="0"/>
                <a:t>Use progress, assessments and learning difficulties to tailor support.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125" dirty="0"/>
                <a:t>Assessment &amp; recommendations</a:t>
              </a:r>
              <a:br>
                <a:rPr sz="1125" dirty="0"/>
              </a:br>
              <a:r>
                <a:rPr sz="1125" dirty="0"/>
                <a:t>Identify knowledge gaps and suggest suitable resources.</a:t>
              </a:r>
            </a:p>
            <a:p>
              <a:pPr>
                <a:spcAft>
                  <a:spcPts val="825"/>
                </a:spcAft>
                <a:defRPr sz="1500">
                  <a:solidFill>
                    <a:srgbClr val="263143"/>
                  </a:solidFill>
                  <a:latin typeface="Arial"/>
                </a:defRPr>
              </a:pPr>
              <a:r>
                <a:rPr sz="1125" dirty="0"/>
                <a:t>Progress tracking</a:t>
              </a:r>
              <a:br>
                <a:rPr sz="1125" dirty="0"/>
              </a:br>
              <a:r>
                <a:rPr sz="1125" dirty="0"/>
                <a:t>Monitor learning activities and performance over time.</a:t>
              </a:r>
            </a:p>
          </p:txBody>
        </p:sp>
      </p:grp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82B66"/>
                </a:solidFill>
                <a:latin typeface="Aptos"/>
              </a:rPr>
              <a:t>Problem Statement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40D074-E527-FC7B-9BF4-08F3EA0F5197}"/>
              </a:ext>
            </a:extLst>
          </p:cNvPr>
          <p:cNvGrpSpPr/>
          <p:nvPr/>
        </p:nvGrpSpPr>
        <p:grpSpPr>
          <a:xfrm>
            <a:off x="2195736" y="2924944"/>
            <a:ext cx="4663440" cy="1234440"/>
            <a:chOff x="1828800" y="3246120"/>
            <a:chExt cx="4663440" cy="1234440"/>
          </a:xfrm>
        </p:grpSpPr>
        <p:sp>
          <p:nvSpPr>
            <p:cNvPr id="10" name="Rectangle 9"/>
            <p:cNvSpPr/>
            <p:nvPr/>
          </p:nvSpPr>
          <p:spPr>
            <a:xfrm>
              <a:off x="2834640" y="3246120"/>
              <a:ext cx="2743200" cy="54864"/>
            </a:xfrm>
            <a:prstGeom prst="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28800" y="3657600"/>
              <a:ext cx="4663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700" b="0">
                  <a:solidFill>
                    <a:srgbClr val="6E7682"/>
                  </a:solidFill>
                  <a:latin typeface="Aptos"/>
                </a:rPr>
                <a:t>The specific gap the project aims to address.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57D416-F356-C79E-4B48-0CD64387A69A}"/>
              </a:ext>
            </a:extLst>
          </p:cNvPr>
          <p:cNvGrpSpPr/>
          <p:nvPr/>
        </p:nvGrpSpPr>
        <p:grpSpPr>
          <a:xfrm>
            <a:off x="395536" y="1052736"/>
            <a:ext cx="8568952" cy="5040559"/>
            <a:chOff x="502920" y="914400"/>
            <a:chExt cx="8171304" cy="4827567"/>
          </a:xfrm>
        </p:grpSpPr>
        <p:sp>
          <p:nvSpPr>
            <p:cNvPr id="10" name="Rounded Rectangle 9"/>
            <p:cNvSpPr/>
            <p:nvPr/>
          </p:nvSpPr>
          <p:spPr>
            <a:xfrm>
              <a:off x="502920" y="914400"/>
              <a:ext cx="7885504" cy="1434480"/>
            </a:xfrm>
            <a:prstGeom prst="roundRect">
              <a:avLst/>
            </a:prstGeom>
            <a:solidFill>
              <a:srgbClr val="F8F9FB"/>
            </a:solidFill>
            <a:ln w="16510">
              <a:solidFill>
                <a:srgbClr val="9B23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900" b="1" dirty="0">
                  <a:solidFill>
                    <a:srgbClr val="082B66"/>
                  </a:solidFill>
                  <a:latin typeface="Aptos"/>
                </a:rPr>
                <a:t>Core Problem</a:t>
              </a:r>
            </a:p>
            <a:p>
              <a:pPr>
                <a:spcBef>
                  <a:spcPts val="400"/>
                </a:spcBef>
              </a:pPr>
              <a:r>
                <a:rPr sz="1600" b="0" dirty="0">
                  <a:solidFill>
                    <a:srgbClr val="232D3C"/>
                  </a:solidFill>
                  <a:latin typeface="Aptos"/>
                </a:rPr>
                <a:t>Students often receive fragmented, generic and language-constrained academic support. Existing systems may answer questions, but do not consistently combine trusted institutional knowledge, learner context and adaptive recommendations.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2514600"/>
              <a:ext cx="2196872" cy="2210544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 dirty="0">
                  <a:solidFill>
                    <a:srgbClr val="082B66"/>
                  </a:solidFill>
                  <a:latin typeface="Aptos"/>
                </a:rPr>
                <a:t>Fragmented Support</a:t>
              </a: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Information is spread across notices, course pages, FAQs and learning resources.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318243" y="2500601"/>
              <a:ext cx="2149976" cy="2210544"/>
            </a:xfrm>
            <a:prstGeom prst="roundRect">
              <a:avLst/>
            </a:prstGeom>
            <a:solidFill>
              <a:srgbClr val="FAF7F7"/>
            </a:solidFill>
            <a:ln w="16510">
              <a:solidFill>
                <a:srgbClr val="9B23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>
                  <a:solidFill>
                    <a:srgbClr val="082B66"/>
                  </a:solidFill>
                  <a:latin typeface="Aptos"/>
                </a:rPr>
                <a:t>Limited Personalization</a:t>
              </a:r>
            </a:p>
            <a:p>
              <a:pPr>
                <a:spcBef>
                  <a:spcPts val="400"/>
                </a:spcBef>
              </a:pPr>
              <a:r>
                <a:rPr sz="1400" b="0">
                  <a:solidFill>
                    <a:srgbClr val="232D3C"/>
                  </a:solidFill>
                  <a:latin typeface="Aptos"/>
                </a:rPr>
                <a:t>The same answer or resource may be shown to students with very different needs.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996234" y="2500601"/>
              <a:ext cx="2175088" cy="2210544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 dirty="0">
                  <a:solidFill>
                    <a:srgbClr val="082B66"/>
                  </a:solidFill>
                  <a:latin typeface="Aptos"/>
                </a:rPr>
                <a:t>Trust + Language</a:t>
              </a: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Free-form LLM answers can be unreliable, while language barriers reduce accessibility.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39552" y="5157192"/>
              <a:ext cx="8134672" cy="58477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600" b="1" dirty="0">
                  <a:solidFill>
                    <a:srgbClr val="082B66"/>
                  </a:solidFill>
                  <a:latin typeface="Aptos"/>
                </a:rPr>
                <a:t>Research question: Can one AI platform provide grounded, multilingual and adaptive educational assistance while continuously learning from student interactions?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74AF792-DFE1-D749-F039-1B6FFCD4D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08"/>
            <a:ext cx="9132912" cy="606178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634BB-BC2E-A5F9-AC83-17E6C452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B83CC1-62B4-9CBB-F226-ED967F303394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07F1F0-8BDF-7BFD-608C-7C5CAE21470A}"/>
              </a:ext>
            </a:extLst>
          </p:cNvPr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BC8C36-FF53-165D-0768-738503CC23F9}"/>
              </a:ext>
            </a:extLst>
          </p:cNvPr>
          <p:cNvGrpSpPr/>
          <p:nvPr/>
        </p:nvGrpSpPr>
        <p:grpSpPr>
          <a:xfrm>
            <a:off x="395536" y="1052736"/>
            <a:ext cx="8568952" cy="5040559"/>
            <a:chOff x="502920" y="914400"/>
            <a:chExt cx="8171304" cy="4827567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4630A5D-B8F8-9501-CC95-76AB0EC03C2B}"/>
                </a:ext>
              </a:extLst>
            </p:cNvPr>
            <p:cNvSpPr/>
            <p:nvPr/>
          </p:nvSpPr>
          <p:spPr>
            <a:xfrm>
              <a:off x="502920" y="914400"/>
              <a:ext cx="7885504" cy="1434480"/>
            </a:xfrm>
            <a:prstGeom prst="roundRect">
              <a:avLst/>
            </a:prstGeom>
            <a:solidFill>
              <a:srgbClr val="F8F9FB"/>
            </a:solidFill>
            <a:ln w="16510">
              <a:solidFill>
                <a:srgbClr val="9B23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900" b="1" dirty="0">
                  <a:solidFill>
                    <a:srgbClr val="082B66"/>
                  </a:solidFill>
                  <a:latin typeface="Aptos"/>
                </a:rPr>
                <a:t>Core Problem</a:t>
              </a:r>
            </a:p>
            <a:p>
              <a:pPr>
                <a:spcBef>
                  <a:spcPts val="400"/>
                </a:spcBef>
              </a:pPr>
              <a:r>
                <a:rPr sz="1600" b="0" dirty="0">
                  <a:solidFill>
                    <a:srgbClr val="232D3C"/>
                  </a:solidFill>
                  <a:latin typeface="Aptos"/>
                </a:rPr>
                <a:t>Students often receive fragmented, generic and language-constrained academic support. Existing systems may answer questions, but do not consistently combine trusted institutional knowledge, learner context and adaptive recommendations.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3232C7D-9F5A-CD18-B970-8D49FCC12CE6}"/>
                </a:ext>
              </a:extLst>
            </p:cNvPr>
            <p:cNvSpPr/>
            <p:nvPr/>
          </p:nvSpPr>
          <p:spPr>
            <a:xfrm>
              <a:off x="502920" y="2514600"/>
              <a:ext cx="2196872" cy="2210544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 dirty="0">
                  <a:solidFill>
                    <a:srgbClr val="082B66"/>
                  </a:solidFill>
                  <a:latin typeface="Aptos"/>
                </a:rPr>
                <a:t>Fragmented Support</a:t>
              </a: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Information is spread across notices, course pages, FAQs and learning resources.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FB60CC5-D4B7-681D-D141-E44AABA439A0}"/>
                </a:ext>
              </a:extLst>
            </p:cNvPr>
            <p:cNvSpPr/>
            <p:nvPr/>
          </p:nvSpPr>
          <p:spPr>
            <a:xfrm>
              <a:off x="3318243" y="2500601"/>
              <a:ext cx="2149976" cy="2210544"/>
            </a:xfrm>
            <a:prstGeom prst="roundRect">
              <a:avLst/>
            </a:prstGeom>
            <a:solidFill>
              <a:srgbClr val="FAF7F7"/>
            </a:solidFill>
            <a:ln w="16510">
              <a:solidFill>
                <a:srgbClr val="9B23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>
                  <a:solidFill>
                    <a:srgbClr val="082B66"/>
                  </a:solidFill>
                  <a:latin typeface="Aptos"/>
                </a:rPr>
                <a:t>Limited Personalization</a:t>
              </a:r>
            </a:p>
            <a:p>
              <a:pPr>
                <a:spcBef>
                  <a:spcPts val="400"/>
                </a:spcBef>
              </a:pPr>
              <a:r>
                <a:rPr sz="1400" b="0">
                  <a:solidFill>
                    <a:srgbClr val="232D3C"/>
                  </a:solidFill>
                  <a:latin typeface="Aptos"/>
                </a:rPr>
                <a:t>The same answer or resource may be shown to students with very different needs.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68F8595-100A-E2FD-5FC6-2370302CFD1A}"/>
                </a:ext>
              </a:extLst>
            </p:cNvPr>
            <p:cNvSpPr/>
            <p:nvPr/>
          </p:nvSpPr>
          <p:spPr>
            <a:xfrm>
              <a:off x="5996234" y="2500601"/>
              <a:ext cx="2175088" cy="2210544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 dirty="0">
                  <a:solidFill>
                    <a:srgbClr val="082B66"/>
                  </a:solidFill>
                  <a:latin typeface="Aptos"/>
                </a:rPr>
                <a:t>Trust + Language</a:t>
              </a: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Free-form LLM answers can be unreliable, while language barriers reduce accessibility.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8EDF3A-9E4D-63CF-1B62-F356CB24EDC7}"/>
                </a:ext>
              </a:extLst>
            </p:cNvPr>
            <p:cNvSpPr txBox="1"/>
            <p:nvPr/>
          </p:nvSpPr>
          <p:spPr>
            <a:xfrm>
              <a:off x="539552" y="5157192"/>
              <a:ext cx="8134672" cy="58477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600" b="1" dirty="0">
                  <a:solidFill>
                    <a:srgbClr val="082B66"/>
                  </a:solidFill>
                  <a:latin typeface="Aptos"/>
                </a:rPr>
                <a:t>Research question: Can one AI platform provide grounded, multilingual and adaptive educational assistance while continuously learning from student interactions?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F6AABAC-733B-8F99-CF5C-B97217A9D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81328"/>
          </a:xfrm>
          <a:prstGeom prst="rect">
            <a:avLst/>
          </a:prstGeom>
        </p:spPr>
      </p:pic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43B60D0-CD28-FC53-D180-1B1727EC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237312"/>
            <a:ext cx="9144000" cy="620688"/>
          </a:xfrm>
        </p:spPr>
        <p:txBody>
          <a:bodyPr/>
          <a:lstStyle/>
          <a:p>
            <a:r>
              <a:rPr lang="en-US" dirty="0"/>
              <a:t>Dept of CSE-2, K L University</a:t>
            </a:r>
          </a:p>
        </p:txBody>
      </p:sp>
    </p:spTree>
    <p:extLst>
      <p:ext uri="{BB962C8B-B14F-4D97-AF65-F5344CB8AC3E}">
        <p14:creationId xmlns:p14="http://schemas.microsoft.com/office/powerpoint/2010/main" val="179965153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dirty="0">
                <a:solidFill>
                  <a:srgbClr val="082B66"/>
                </a:solidFill>
                <a:latin typeface="Aptos"/>
              </a:rPr>
              <a:t>Literature Review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85D20F-0900-EBAC-F902-C8E9549685B1}"/>
              </a:ext>
            </a:extLst>
          </p:cNvPr>
          <p:cNvGrpSpPr/>
          <p:nvPr/>
        </p:nvGrpSpPr>
        <p:grpSpPr>
          <a:xfrm>
            <a:off x="1979712" y="2924944"/>
            <a:ext cx="4975448" cy="1234440"/>
            <a:chOff x="1828800" y="3246120"/>
            <a:chExt cx="4663440" cy="1234440"/>
          </a:xfrm>
        </p:grpSpPr>
        <p:sp>
          <p:nvSpPr>
            <p:cNvPr id="7" name="Rectangle 6"/>
            <p:cNvSpPr/>
            <p:nvPr/>
          </p:nvSpPr>
          <p:spPr>
            <a:xfrm>
              <a:off x="2834640" y="3246120"/>
              <a:ext cx="2743200" cy="54864"/>
            </a:xfrm>
            <a:prstGeom prst="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28800" y="3657600"/>
              <a:ext cx="4663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700" b="0">
                  <a:solidFill>
                    <a:srgbClr val="6E7682"/>
                  </a:solidFill>
                  <a:latin typeface="Aptos"/>
                </a:rPr>
                <a:t>Research foundations behind chatbots, RAG, personalization and multilingual NLP.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Background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EBF6A3-A84D-5290-CBAB-9828F3414369}"/>
              </a:ext>
            </a:extLst>
          </p:cNvPr>
          <p:cNvGrpSpPr/>
          <p:nvPr/>
        </p:nvGrpSpPr>
        <p:grpSpPr>
          <a:xfrm>
            <a:off x="659724" y="1052736"/>
            <a:ext cx="7944724" cy="4896544"/>
            <a:chOff x="640080" y="1040018"/>
            <a:chExt cx="6949440" cy="4446382"/>
          </a:xfrm>
        </p:grpSpPr>
        <p:sp>
          <p:nvSpPr>
            <p:cNvPr id="8" name="Rounded Rectangle 7"/>
            <p:cNvSpPr/>
            <p:nvPr/>
          </p:nvSpPr>
          <p:spPr>
            <a:xfrm>
              <a:off x="660937" y="1040018"/>
              <a:ext cx="3246120" cy="1645920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800" b="1" dirty="0">
                  <a:solidFill>
                    <a:srgbClr val="082B66"/>
                  </a:solidFill>
                  <a:latin typeface="Aptos"/>
                </a:rPr>
                <a:t>Generative AI</a:t>
              </a: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Natural-language interaction can make educational support more accessible and conversational.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125228" y="1040018"/>
              <a:ext cx="3246120" cy="1645920"/>
            </a:xfrm>
            <a:prstGeom prst="roundRect">
              <a:avLst/>
            </a:prstGeom>
            <a:solidFill>
              <a:srgbClr val="F8F9FB"/>
            </a:solidFill>
            <a:ln w="16510">
              <a:solidFill>
                <a:srgbClr val="9B23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800" b="1" dirty="0">
                  <a:solidFill>
                    <a:srgbClr val="082B66"/>
                  </a:solidFill>
                  <a:latin typeface="Aptos"/>
                </a:rPr>
                <a:t>RAG</a:t>
              </a: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Retrieves relevant source passages and supplies them to the generator to improve grounding and updateability.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0937" y="2870881"/>
              <a:ext cx="3246120" cy="1645920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800" b="1" dirty="0">
                  <a:solidFill>
                    <a:srgbClr val="082B66"/>
                  </a:solidFill>
                  <a:latin typeface="Aptos"/>
                </a:rPr>
                <a:t>Knowledge Tracing</a:t>
              </a: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Student interactions can be modeled to estimate evolving knowledge or mastery.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125228" y="2870881"/>
              <a:ext cx="3246120" cy="1645920"/>
            </a:xfrm>
            <a:prstGeom prst="roundRect">
              <a:avLst/>
            </a:prstGeom>
            <a:solidFill>
              <a:srgbClr val="F8F9FB"/>
            </a:solidFill>
            <a:ln w="16510">
              <a:solidFill>
                <a:srgbClr val="9B23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800" b="1" dirty="0">
                  <a:solidFill>
                    <a:srgbClr val="082B66"/>
                  </a:solidFill>
                  <a:latin typeface="Aptos"/>
                </a:rPr>
                <a:t>Indic NLP</a:t>
              </a: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Multilingual resources and models enable support for Indian languages and English.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0080" y="5074920"/>
              <a:ext cx="694944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082B66"/>
                  </a:solidFill>
                  <a:latin typeface="Aptos"/>
                </a:rPr>
                <a:t>Together, these technologies support a system that is conversational, grounded, multilingual and adaptive.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79978D9-7259-7896-2B6C-C8CA2C74A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59832" y="6453336"/>
            <a:ext cx="2895600" cy="365125"/>
          </a:xfrm>
        </p:spPr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ptos"/>
              </a:rPr>
              <a:t>Literature Review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491628"/>
              </p:ext>
            </p:extLst>
          </p:nvPr>
        </p:nvGraphicFramePr>
        <p:xfrm>
          <a:off x="107504" y="692696"/>
          <a:ext cx="8856983" cy="355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1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S.No.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Research / Paper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Technique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Finding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Limitation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NEU-chatbot</a:t>
                      </a:r>
                      <a:r>
                        <a:rPr lang="en-IN" sz="1400"/>
                        <a:t> (Nguyen et al., 2021)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NLP + Rasa + Deep Learning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Automates university admission queries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Mainly admission-focused; limited personalization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Jooka: Bilingual Admission Chatbot</a:t>
                      </a:r>
                      <a:r>
                        <a:rPr lang="en-IN" sz="1400"/>
                        <a:t> (El Hefny et al., 2021)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Bilingual NLP + Chatbot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Supports admission assistance in two languages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 learning analytics or personalized learning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RAG for Educational Applications</a:t>
                      </a:r>
                      <a:r>
                        <a:rPr lang="en-IN" sz="1400"/>
                        <a:t> (2025)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RAG + Vector Search + LLM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Provides grounded answers using trusted documents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Depends on document quality and retrieval accuracy</a:t>
                      </a:r>
                    </a:p>
                  </a:txBody>
                  <a:tcPr anchor="ctr">
                    <a:solidFill>
                      <a:srgbClr val="B1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Personalized Learning Platform</a:t>
                      </a:r>
                      <a:r>
                        <a:rPr lang="en-IN" sz="1400" dirty="0"/>
                        <a:t> (Zhang et al., 2022)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Collaborative Filtering + Student Data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Recommends suitable learning resources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Requires sufficient student data; cold-start problem</a:t>
                      </a:r>
                    </a:p>
                  </a:txBody>
                  <a:tcPr anchor="ctr">
                    <a:solidFill>
                      <a:srgbClr val="D7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-252536" y="6309320"/>
            <a:ext cx="7863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0" dirty="0">
                <a:solidFill>
                  <a:srgbClr val="6E7682"/>
                </a:solidFill>
                <a:latin typeface="Aptos"/>
              </a:rPr>
              <a:t>Sources: Wollny et al. (2021); </a:t>
            </a:r>
            <a:r>
              <a:rPr sz="819" b="0" dirty="0" err="1">
                <a:solidFill>
                  <a:srgbClr val="6E7682"/>
                </a:solidFill>
                <a:latin typeface="Aptos"/>
              </a:rPr>
              <a:t>Kuhail</a:t>
            </a:r>
            <a:r>
              <a:rPr sz="819" b="0" dirty="0">
                <a:solidFill>
                  <a:srgbClr val="6E7682"/>
                </a:solidFill>
                <a:latin typeface="Aptos"/>
              </a:rPr>
              <a:t> et al. (2022); Lewis et al. (2020); Piech et al. (2015); </a:t>
            </a:r>
            <a:r>
              <a:rPr sz="819" b="0" dirty="0" err="1">
                <a:solidFill>
                  <a:srgbClr val="6E7682"/>
                </a:solidFill>
                <a:latin typeface="Aptos"/>
              </a:rPr>
              <a:t>Kunchukuttan</a:t>
            </a:r>
            <a:r>
              <a:rPr sz="819" b="0" dirty="0">
                <a:solidFill>
                  <a:srgbClr val="6E7682"/>
                </a:solidFill>
                <a:latin typeface="Aptos"/>
              </a:rPr>
              <a:t> et al. (2020); Guan et al. (2025); </a:t>
            </a:r>
            <a:r>
              <a:rPr sz="819" b="0" dirty="0" err="1">
                <a:solidFill>
                  <a:srgbClr val="6E7682"/>
                </a:solidFill>
                <a:latin typeface="Aptos"/>
              </a:rPr>
              <a:t>Debets</a:t>
            </a:r>
            <a:r>
              <a:rPr sz="819" b="0" dirty="0">
                <a:solidFill>
                  <a:srgbClr val="6E7682"/>
                </a:solidFill>
                <a:latin typeface="Aptos"/>
              </a:rPr>
              <a:t> et al. (2025).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7E8D93-4349-587E-ACC6-0A8A104E2618}"/>
              </a:ext>
            </a:extLst>
          </p:cNvPr>
          <p:cNvSpPr/>
          <p:nvPr/>
        </p:nvSpPr>
        <p:spPr>
          <a:xfrm>
            <a:off x="323528" y="4365104"/>
            <a:ext cx="8352928" cy="1872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0237C-8338-8CFD-6C0A-3052136C6C35}"/>
              </a:ext>
            </a:extLst>
          </p:cNvPr>
          <p:cNvSpPr txBox="1"/>
          <p:nvPr/>
        </p:nvSpPr>
        <p:spPr>
          <a:xfrm>
            <a:off x="539552" y="4797152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There is a need for a unified platform that combines admission assistance, multilingual interaction, grounded information retrieval, and personalized learning support. There is a need for a unified platform that combines admission assistance, multilingual interaction, grounded information retrieval, and personalized learning support.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51354C-A346-B1D6-D84B-974F812C065F}"/>
              </a:ext>
            </a:extLst>
          </p:cNvPr>
          <p:cNvSpPr txBox="1"/>
          <p:nvPr/>
        </p:nvSpPr>
        <p:spPr>
          <a:xfrm>
            <a:off x="467544" y="443711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research gap 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Research Gap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CB3204-4F6E-BD1F-BFA4-38174AC4F3F1}"/>
              </a:ext>
            </a:extLst>
          </p:cNvPr>
          <p:cNvGrpSpPr/>
          <p:nvPr/>
        </p:nvGrpSpPr>
        <p:grpSpPr>
          <a:xfrm>
            <a:off x="683568" y="1052736"/>
            <a:ext cx="7741488" cy="4333088"/>
            <a:chOff x="502920" y="896112"/>
            <a:chExt cx="6903720" cy="4005072"/>
          </a:xfrm>
        </p:grpSpPr>
        <p:sp>
          <p:nvSpPr>
            <p:cNvPr id="9" name="Oval 8"/>
            <p:cNvSpPr/>
            <p:nvPr/>
          </p:nvSpPr>
          <p:spPr>
            <a:xfrm>
              <a:off x="502920" y="914400"/>
              <a:ext cx="502920" cy="502920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ptos"/>
                </a:rPr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43000" y="896112"/>
              <a:ext cx="242316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700" b="1">
                  <a:solidFill>
                    <a:srgbClr val="082B66"/>
                  </a:solidFill>
                  <a:latin typeface="Aptos"/>
                </a:rPr>
                <a:t>Grounding + Personalization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46120" y="896112"/>
              <a:ext cx="4160520" cy="7132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0">
                  <a:solidFill>
                    <a:srgbClr val="232D3C"/>
                  </a:solidFill>
                  <a:latin typeface="Aptos"/>
                </a:rPr>
                <a:t>RAG systems focus on factual retrieval, while personalization often sits outside the answer-generation loop.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02920" y="2011680"/>
              <a:ext cx="502920" cy="502920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ptos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43001" y="1993392"/>
              <a:ext cx="2185399" cy="56895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700" b="1" dirty="0">
                  <a:solidFill>
                    <a:srgbClr val="082B66"/>
                  </a:solidFill>
                  <a:latin typeface="Aptos"/>
                </a:rPr>
                <a:t>Learning Feedback Loop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46120" y="1993392"/>
              <a:ext cx="4160520" cy="7132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0">
                  <a:solidFill>
                    <a:srgbClr val="232D3C"/>
                  </a:solidFill>
                  <a:latin typeface="Aptos"/>
                </a:rPr>
                <a:t>Many educational chatbots provide support but do not continuously use assessment and interaction history to adapt recommendations.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502920" y="3108960"/>
              <a:ext cx="502920" cy="502920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ptos"/>
                </a:rPr>
                <a:t>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43000" y="3090672"/>
              <a:ext cx="242316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700" b="1" dirty="0">
                  <a:solidFill>
                    <a:srgbClr val="082B66"/>
                  </a:solidFill>
                  <a:latin typeface="Aptos"/>
                </a:rPr>
                <a:t>Multilingual Student Support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46120" y="3090672"/>
              <a:ext cx="4160520" cy="7132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0" dirty="0">
                  <a:solidFill>
                    <a:srgbClr val="232D3C"/>
                  </a:solidFill>
                  <a:latin typeface="Aptos"/>
                </a:rPr>
                <a:t>Indic-language resources are growing, but an integrated educational assistant that connects multilingual access with institutional knowledge remains a practical gap.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02920" y="4206240"/>
              <a:ext cx="502920" cy="502920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ptos"/>
                </a:rPr>
                <a:t>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43000" y="4187952"/>
              <a:ext cx="242316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700" b="1">
                  <a:solidFill>
                    <a:srgbClr val="082B66"/>
                  </a:solidFill>
                  <a:latin typeface="Aptos"/>
                </a:rPr>
                <a:t>Unified Student Experience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46120" y="4187952"/>
              <a:ext cx="4160520" cy="7132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0">
                  <a:solidFill>
                    <a:srgbClr val="232D3C"/>
                  </a:solidFill>
                  <a:latin typeface="Aptos"/>
                </a:rPr>
                <a:t>Academic queries, resources, assessment insights and progress tracking are commonly fragmented across tools.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755576" y="5445224"/>
            <a:ext cx="7762056" cy="868640"/>
          </a:xfrm>
          <a:prstGeom prst="roundRect">
            <a:avLst/>
          </a:prstGeom>
          <a:solidFill>
            <a:srgbClr val="EBF2FC"/>
          </a:solidFill>
          <a:ln w="16510">
            <a:solidFill>
              <a:srgbClr val="082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rtlCol="0" anchor="ctr"/>
          <a:lstStyle/>
          <a:p>
            <a:r>
              <a:rPr sz="1400" b="1" dirty="0">
                <a:solidFill>
                  <a:srgbClr val="082B66"/>
                </a:solidFill>
                <a:latin typeface="Aptos"/>
              </a:rPr>
              <a:t>Proposed response</a:t>
            </a:r>
          </a:p>
          <a:p>
            <a:pPr>
              <a:spcBef>
                <a:spcPts val="400"/>
              </a:spcBef>
            </a:pPr>
            <a:r>
              <a:rPr sz="1200" b="0" dirty="0">
                <a:solidFill>
                  <a:srgbClr val="232D3C"/>
                </a:solidFill>
                <a:latin typeface="Aptos"/>
              </a:rPr>
              <a:t>A unified platform linking trusted-document RAG, multilingual interaction and a learner profile with adaptive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Research Objectives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B94BF7-1225-C4C2-684C-0ADFD2942F76}"/>
              </a:ext>
            </a:extLst>
          </p:cNvPr>
          <p:cNvGrpSpPr/>
          <p:nvPr/>
        </p:nvGrpSpPr>
        <p:grpSpPr>
          <a:xfrm>
            <a:off x="539552" y="980728"/>
            <a:ext cx="7885504" cy="4053056"/>
            <a:chOff x="502920" y="960120"/>
            <a:chExt cx="6903720" cy="3840480"/>
          </a:xfrm>
        </p:grpSpPr>
        <p:sp>
          <p:nvSpPr>
            <p:cNvPr id="10" name="Rounded Rectangle 9"/>
            <p:cNvSpPr/>
            <p:nvPr/>
          </p:nvSpPr>
          <p:spPr>
            <a:xfrm>
              <a:off x="502920" y="960120"/>
              <a:ext cx="2057400" cy="310896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ptos"/>
                </a:rPr>
                <a:t>Phase 1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1417320"/>
              <a:ext cx="2057400" cy="3383280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4F81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 u="sng" dirty="0">
                  <a:solidFill>
                    <a:srgbClr val="082B66"/>
                  </a:solidFill>
                  <a:latin typeface="Aptos"/>
                </a:rPr>
                <a:t>Knowledge &amp; Access</a:t>
              </a:r>
              <a:endParaRPr lang="en-US" sz="1700" b="1" u="sng" dirty="0">
                <a:solidFill>
                  <a:srgbClr val="082B66"/>
                </a:solidFill>
                <a:latin typeface="Aptos"/>
              </a:endParaRPr>
            </a:p>
            <a:p>
              <a:endParaRPr sz="1700" b="1" u="sng" dirty="0">
                <a:solidFill>
                  <a:srgbClr val="082B66"/>
                </a:solidFill>
                <a:latin typeface="Aptos"/>
              </a:endParaRP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Build a multilingual conversational interface</a:t>
              </a:r>
              <a:br>
                <a:rPr dirty="0"/>
              </a:b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Ingest trusted academic and institutional documents</a:t>
              </a:r>
              <a:br>
                <a:rPr dirty="0"/>
              </a:b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Create semantic retrieval for grounded answers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26080" y="960120"/>
              <a:ext cx="2057400" cy="310896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ptos"/>
                </a:rPr>
                <a:t>Phase 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926080" y="1417320"/>
              <a:ext cx="2057400" cy="3383280"/>
            </a:xfrm>
            <a:prstGeom prst="roundRect">
              <a:avLst/>
            </a:prstGeom>
            <a:solidFill>
              <a:srgbClr val="F8F9FB"/>
            </a:solidFill>
            <a:ln w="16510">
              <a:solidFill>
                <a:srgbClr val="9B23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 u="sng" dirty="0">
                  <a:solidFill>
                    <a:srgbClr val="082B66"/>
                  </a:solidFill>
                  <a:latin typeface="Aptos"/>
                </a:rPr>
                <a:t>Personalization</a:t>
              </a:r>
              <a:endParaRPr lang="en-US" sz="1700" b="1" u="sng" dirty="0">
                <a:solidFill>
                  <a:srgbClr val="082B66"/>
                </a:solidFill>
                <a:latin typeface="Aptos"/>
              </a:endParaRPr>
            </a:p>
            <a:p>
              <a:endParaRPr sz="1700" b="1" u="sng" dirty="0">
                <a:solidFill>
                  <a:srgbClr val="082B66"/>
                </a:solidFill>
                <a:latin typeface="Aptos"/>
              </a:endParaRP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Create a student learning profile</a:t>
              </a:r>
              <a:br>
                <a:rPr dirty="0"/>
              </a:b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Track assessments, interests and interactions</a:t>
              </a:r>
              <a:br>
                <a:rPr dirty="0"/>
              </a:b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Identify weak areas and recommend resources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349240" y="960120"/>
              <a:ext cx="2057400" cy="310896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ptos"/>
                </a:rPr>
                <a:t>Phase 3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349240" y="1417320"/>
              <a:ext cx="2057400" cy="3383280"/>
            </a:xfrm>
            <a:prstGeom prst="roundRect">
              <a:avLst/>
            </a:prstGeom>
            <a:solidFill>
              <a:srgbClr val="F7FAF6"/>
            </a:solidFill>
            <a:ln w="16510">
              <a:solidFill>
                <a:srgbClr val="377D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r>
                <a:rPr sz="1700" b="1" u="sng" dirty="0">
                  <a:solidFill>
                    <a:srgbClr val="082B66"/>
                  </a:solidFill>
                  <a:latin typeface="Aptos"/>
                </a:rPr>
                <a:t>Evaluation &amp; Learning Loop</a:t>
              </a:r>
              <a:endParaRPr lang="en-US" sz="1700" b="1" u="sng" dirty="0">
                <a:solidFill>
                  <a:srgbClr val="082B66"/>
                </a:solidFill>
                <a:latin typeface="Aptos"/>
              </a:endParaRPr>
            </a:p>
            <a:p>
              <a:endParaRPr sz="1700" b="1" u="sng" dirty="0">
                <a:solidFill>
                  <a:srgbClr val="082B66"/>
                </a:solidFill>
                <a:latin typeface="Aptos"/>
              </a:endParaRPr>
            </a:p>
            <a:p>
              <a:pPr>
                <a:spcBef>
                  <a:spcPts val="400"/>
                </a:spcBef>
              </a:pP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Measure answer relevance and grounding</a:t>
              </a:r>
              <a:br>
                <a:rPr dirty="0"/>
              </a:b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Evaluate recommendation usefulness</a:t>
              </a:r>
              <a:br>
                <a:rPr dirty="0"/>
              </a:br>
              <a:r>
                <a:rPr sz="1400" b="0" dirty="0">
                  <a:solidFill>
                    <a:srgbClr val="232D3C"/>
                  </a:solidFill>
                  <a:latin typeface="Aptos"/>
                </a:rPr>
                <a:t>• Use feedback to refine the learner profile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11560" y="5373216"/>
            <a:ext cx="78923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082B66"/>
                </a:solidFill>
                <a:latin typeface="Aptos"/>
              </a:rPr>
              <a:t>Primary outcome: a prototype that moves from “answering a question” to “supporting a learner”.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82B66"/>
                </a:solidFill>
                <a:latin typeface="Aptos"/>
              </a:rPr>
              <a:t>Methodology &amp; Planning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55C05E-9AAB-B636-6610-3D0FAC6EBA51}"/>
              </a:ext>
            </a:extLst>
          </p:cNvPr>
          <p:cNvGrpSpPr/>
          <p:nvPr/>
        </p:nvGrpSpPr>
        <p:grpSpPr>
          <a:xfrm>
            <a:off x="1835696" y="3140968"/>
            <a:ext cx="5335488" cy="1234440"/>
            <a:chOff x="1828800" y="3246120"/>
            <a:chExt cx="4663440" cy="1234440"/>
          </a:xfrm>
        </p:grpSpPr>
        <p:sp>
          <p:nvSpPr>
            <p:cNvPr id="10" name="Rectangle 9"/>
            <p:cNvSpPr/>
            <p:nvPr/>
          </p:nvSpPr>
          <p:spPr>
            <a:xfrm>
              <a:off x="2834640" y="3246120"/>
              <a:ext cx="2743200" cy="54864"/>
            </a:xfrm>
            <a:prstGeom prst="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28800" y="3657600"/>
              <a:ext cx="4663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700" b="0" dirty="0">
                  <a:solidFill>
                    <a:srgbClr val="6E7682"/>
                  </a:solidFill>
                  <a:latin typeface="Aptos"/>
                </a:rPr>
                <a:t>How the system will be developed, evaluated and delivered.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522522-258D-5D29-38C6-32E835AE4EE1}"/>
              </a:ext>
            </a:extLst>
          </p:cNvPr>
          <p:cNvGrpSpPr/>
          <p:nvPr/>
        </p:nvGrpSpPr>
        <p:grpSpPr>
          <a:xfrm>
            <a:off x="502920" y="850392"/>
            <a:ext cx="7885504" cy="5314912"/>
            <a:chOff x="502920" y="850392"/>
            <a:chExt cx="6967728" cy="5001768"/>
          </a:xfrm>
        </p:grpSpPr>
        <p:sp>
          <p:nvSpPr>
            <p:cNvPr id="10" name="Oval 9"/>
            <p:cNvSpPr/>
            <p:nvPr/>
          </p:nvSpPr>
          <p:spPr>
            <a:xfrm>
              <a:off x="502920" y="868680"/>
              <a:ext cx="438912" cy="438912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69848" y="850392"/>
              <a:ext cx="26517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82B66"/>
                  </a:solidFill>
                  <a:latin typeface="Aptos"/>
                </a:rPr>
                <a:t>Collect Sources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69848" y="1188720"/>
              <a:ext cx="2697480" cy="5669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32D3C"/>
                  </a:solidFill>
                  <a:latin typeface="Aptos"/>
                </a:rPr>
                <a:t>Academic PDFs, course material, FAQs, institutional notices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02920" y="2011680"/>
              <a:ext cx="438912" cy="438912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69848" y="1993392"/>
              <a:ext cx="26517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82B66"/>
                  </a:solidFill>
                  <a:latin typeface="Aptos"/>
                </a:rPr>
                <a:t>Prepare Data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69848" y="2331720"/>
              <a:ext cx="2697480" cy="5669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32D3C"/>
                  </a:solidFill>
                  <a:latin typeface="Aptos"/>
                </a:rPr>
                <a:t>Clean, chunk and tag documents with metadata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02920" y="3154680"/>
              <a:ext cx="438912" cy="438912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69848" y="3136392"/>
              <a:ext cx="26517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82B66"/>
                  </a:solidFill>
                  <a:latin typeface="Aptos"/>
                </a:rPr>
                <a:t>Create Embeddings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69848" y="3474720"/>
              <a:ext cx="2697480" cy="5669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32D3C"/>
                  </a:solidFill>
                  <a:latin typeface="Aptos"/>
                </a:rPr>
                <a:t>Convert chunks into vectors for semantic search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502920" y="4297680"/>
              <a:ext cx="438912" cy="438912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4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9848" y="4279392"/>
              <a:ext cx="26517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82B66"/>
                  </a:solidFill>
                  <a:latin typeface="Aptos"/>
                </a:rPr>
                <a:t>Retrieve Context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9848" y="4617720"/>
              <a:ext cx="2697480" cy="5669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32D3C"/>
                  </a:solidFill>
                  <a:latin typeface="Aptos"/>
                </a:rPr>
                <a:t>Find top relevant passages for each query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4206240" y="868680"/>
              <a:ext cx="438912" cy="438912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73168" y="850392"/>
              <a:ext cx="26517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82B66"/>
                  </a:solidFill>
                  <a:latin typeface="Aptos"/>
                </a:rPr>
                <a:t>Generate Answer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73168" y="1188720"/>
              <a:ext cx="2697480" cy="5669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32D3C"/>
                  </a:solidFill>
                  <a:latin typeface="Aptos"/>
                </a:rPr>
                <a:t>LLM answers using retrieved context and prompt rules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4206240" y="2011680"/>
              <a:ext cx="438912" cy="438912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6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73168" y="1993392"/>
              <a:ext cx="26517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82B66"/>
                  </a:solidFill>
                  <a:latin typeface="Aptos"/>
                </a:rPr>
                <a:t>Update Profile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73168" y="2331720"/>
              <a:ext cx="2697480" cy="5669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32D3C"/>
                  </a:solidFill>
                  <a:latin typeface="Aptos"/>
                </a:rPr>
                <a:t>Store interaction, assessment and preference signals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4206240" y="3154680"/>
              <a:ext cx="438912" cy="438912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7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73168" y="3136392"/>
              <a:ext cx="26517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82B66"/>
                  </a:solidFill>
                  <a:latin typeface="Aptos"/>
                </a:rPr>
                <a:t>Recommend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73168" y="3474720"/>
              <a:ext cx="2697480" cy="5669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32D3C"/>
                  </a:solidFill>
                  <a:latin typeface="Aptos"/>
                </a:rPr>
                <a:t>Select learning resources / next actions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4206240" y="4297680"/>
              <a:ext cx="438912" cy="438912"/>
            </a:xfrm>
            <a:prstGeom prst="ellipse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8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73168" y="4279392"/>
              <a:ext cx="26517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82B66"/>
                  </a:solidFill>
                  <a:latin typeface="Aptos"/>
                </a:rPr>
                <a:t>Evaluate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73168" y="4617720"/>
              <a:ext cx="2697480" cy="56692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232D3C"/>
                  </a:solidFill>
                  <a:latin typeface="Aptos"/>
                </a:rPr>
                <a:t>Check relevance, grounding, usefulness and user feedback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85800" y="5486400"/>
              <a:ext cx="676656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082B66"/>
                  </a:solidFill>
                  <a:latin typeface="Aptos"/>
                </a:rPr>
                <a:t>Student Query → Language Handling → RAG Retrieval → Grounded Response → Profile Update → Recommendation → Feedback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CSE-2, K L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Planning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C3866B-9978-ED11-AC1B-39E45AA38B2F}"/>
              </a:ext>
            </a:extLst>
          </p:cNvPr>
          <p:cNvGrpSpPr/>
          <p:nvPr/>
        </p:nvGrpSpPr>
        <p:grpSpPr>
          <a:xfrm>
            <a:off x="502920" y="868680"/>
            <a:ext cx="8173536" cy="5440640"/>
            <a:chOff x="502920" y="868680"/>
            <a:chExt cx="7086600" cy="5120640"/>
          </a:xfrm>
        </p:grpSpPr>
        <p:sp>
          <p:nvSpPr>
            <p:cNvPr id="10" name="TextBox 9"/>
            <p:cNvSpPr txBox="1"/>
            <p:nvPr/>
          </p:nvSpPr>
          <p:spPr>
            <a:xfrm>
              <a:off x="502920" y="868680"/>
              <a:ext cx="214884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>
                  <a:solidFill>
                    <a:srgbClr val="082B66"/>
                  </a:solidFill>
                  <a:latin typeface="Aptos"/>
                </a:rPr>
                <a:t>Work Package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88920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27832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66744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05656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W4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44568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983480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W6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22392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W7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61304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W8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00216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W9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39128" y="868680"/>
              <a:ext cx="438912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6E7682"/>
                  </a:solidFill>
                  <a:latin typeface="Aptos"/>
                </a:rPr>
                <a:t>W10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2920" y="1097280"/>
              <a:ext cx="210312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50" b="0">
                  <a:solidFill>
                    <a:srgbClr val="232D3C"/>
                  </a:solidFill>
                  <a:latin typeface="Aptos"/>
                </a:rPr>
                <a:t>1. Requirement &amp; Literature Study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788920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227832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666744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05656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544568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983480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422392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861304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300216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739128" y="10972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807208" y="113385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246120" y="113385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20" y="1600200"/>
              <a:ext cx="210312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50" b="0">
                  <a:solidFill>
                    <a:srgbClr val="232D3C"/>
                  </a:solidFill>
                  <a:latin typeface="Aptos"/>
                </a:rPr>
                <a:t>2. Dataset / Document Collection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788920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27832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666744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05656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44568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983480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422392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861304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300216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739128" y="16002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246120" y="1636776"/>
              <a:ext cx="402336" cy="274320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685032" y="1636776"/>
              <a:ext cx="402336" cy="274320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20" y="2103120"/>
              <a:ext cx="210312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50" b="0">
                  <a:solidFill>
                    <a:srgbClr val="232D3C"/>
                  </a:solidFill>
                  <a:latin typeface="Aptos"/>
                </a:rPr>
                <a:t>3. RAG Prototype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788920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227832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666744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105656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544568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983480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422392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861304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300216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739128" y="21031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3685032" y="213969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4123944" y="213969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4562856" y="213969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02920" y="2606040"/>
              <a:ext cx="210312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50" b="0">
                  <a:solidFill>
                    <a:srgbClr val="232D3C"/>
                  </a:solidFill>
                  <a:latin typeface="Aptos"/>
                </a:rPr>
                <a:t>4. Student Profile &amp; Analytics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788920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227832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666744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105656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544568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983480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422392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861304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300216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739128" y="260604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562856" y="2642616"/>
              <a:ext cx="402336" cy="274320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5001768" y="2642616"/>
              <a:ext cx="402336" cy="274320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02920" y="3108960"/>
              <a:ext cx="210312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50" b="0">
                  <a:solidFill>
                    <a:srgbClr val="232D3C"/>
                  </a:solidFill>
                  <a:latin typeface="Aptos"/>
                </a:rPr>
                <a:t>5. Recommendation Module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788920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227832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666744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105656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544568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983480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422392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5861304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300216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739128" y="310896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5001768" y="314553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5440680" y="314553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02920" y="3611880"/>
              <a:ext cx="210312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50" b="0">
                  <a:solidFill>
                    <a:srgbClr val="232D3C"/>
                  </a:solidFill>
                  <a:latin typeface="Aptos"/>
                </a:rPr>
                <a:t>6. Frontend + Integration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788920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227832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3666744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105656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544568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983480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422392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5861304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300216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739128" y="361188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5440680" y="3648456"/>
              <a:ext cx="402336" cy="274320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5879592" y="3648456"/>
              <a:ext cx="402336" cy="274320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02920" y="4114800"/>
              <a:ext cx="210312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50" b="0">
                  <a:solidFill>
                    <a:srgbClr val="232D3C"/>
                  </a:solidFill>
                  <a:latin typeface="Aptos"/>
                </a:rPr>
                <a:t>7. Testing &amp; Evaluation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788920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3227832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666744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105656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4544568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4983480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422392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861304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6300216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6739128" y="411480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5879592" y="415137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6318504" y="4151376"/>
              <a:ext cx="402336" cy="274320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502920" y="4617720"/>
              <a:ext cx="210312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50" b="0">
                  <a:solidFill>
                    <a:srgbClr val="232D3C"/>
                  </a:solidFill>
                  <a:latin typeface="Aptos"/>
                </a:rPr>
                <a:t>8. Documentation &amp; Demo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788920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3227832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666744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105656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4544568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4983480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5422392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5861304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6300216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6739128" y="4617720"/>
              <a:ext cx="438912" cy="347472"/>
            </a:xfrm>
            <a:prstGeom prst="rect">
              <a:avLst/>
            </a:prstGeom>
            <a:solidFill>
              <a:srgbClr val="F5F7FA"/>
            </a:solidFill>
            <a:ln w="6350">
              <a:solidFill>
                <a:srgbClr val="D7DC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6318504" y="4654296"/>
              <a:ext cx="402336" cy="274320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6757416" y="4654296"/>
              <a:ext cx="402336" cy="274320"/>
            </a:xfrm>
            <a:prstGeom prst="roundRect">
              <a:avLst/>
            </a:prstGeom>
            <a:solidFill>
              <a:srgbClr val="9B23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594360" y="5394960"/>
              <a:ext cx="6995160" cy="594360"/>
            </a:xfrm>
            <a:prstGeom prst="roundRect">
              <a:avLst/>
            </a:prstGeom>
            <a:solidFill>
              <a:srgbClr val="EBF2FC"/>
            </a:solidFill>
            <a:ln w="16510">
              <a:solidFill>
                <a:srgbClr val="082B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7000" tIns="101600" rIns="127000" rtlCol="0" anchor="ctr"/>
            <a:lstStyle/>
            <a:p>
              <a:pPr algn="ctr"/>
              <a:r>
                <a:rPr sz="1400" b="1">
                  <a:solidFill>
                    <a:srgbClr val="082B66"/>
                  </a:solidFill>
                  <a:latin typeface="Aptos"/>
                </a:rPr>
                <a:t>Expected Outcome</a:t>
              </a:r>
            </a:p>
            <a:p>
              <a:pPr>
                <a:spcBef>
                  <a:spcPts val="400"/>
                </a:spcBef>
              </a:pPr>
              <a:r>
                <a:rPr sz="1200" b="0">
                  <a:solidFill>
                    <a:srgbClr val="232D3C"/>
                  </a:solidFill>
                  <a:latin typeface="Aptos"/>
                </a:rPr>
                <a:t>A working prototype demonstrating grounded multilingual assistance, learner profiling, adaptive recommendations and measurable feedback.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1628</Words>
  <Application>Microsoft Office PowerPoint</Application>
  <PresentationFormat>On-screen Show (4:3)</PresentationFormat>
  <Paragraphs>224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Office Theme</vt:lpstr>
      <vt:lpstr>1_Office Theme</vt:lpstr>
      <vt:lpstr>Multilingual Admission-Assistance Chatbot for Technical Education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shruthy</dc:creator>
  <cp:lastModifiedBy>GUNUPURAM NAVDEEP</cp:lastModifiedBy>
  <cp:revision>1123</cp:revision>
  <dcterms:created xsi:type="dcterms:W3CDTF">2006-08-16T00:00:00Z</dcterms:created>
  <dcterms:modified xsi:type="dcterms:W3CDTF">2026-08-26T04:05:31Z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8FC611FF2E7A48EE82109016AD07BCF9_12</vt:lpwstr>
  </property>
  <property fmtid="{D5CDD505-2E9C-101B-9397-08002B2CF9AE}" pid="3" name="KSOProductBuildVer">
    <vt:lpwstr>1033-12.1.0.28032</vt:lpwstr>
  </property>
</Properties>
</file>